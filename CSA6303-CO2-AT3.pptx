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80" r:id="rId3"/>
    <p:sldId id="259" r:id="rId4"/>
    <p:sldId id="279" r:id="rId5"/>
    <p:sldId id="260" r:id="rId6"/>
    <p:sldId id="277" r:id="rId7"/>
    <p:sldId id="284" r:id="rId8"/>
    <p:sldId id="285" r:id="rId9"/>
    <p:sldId id="286" r:id="rId10"/>
    <p:sldId id="287" r:id="rId11"/>
    <p:sldId id="271" r:id="rId12"/>
    <p:sldId id="269" r:id="rId13"/>
    <p:sldId id="283" r:id="rId14"/>
    <p:sldId id="275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90" d="100"/>
          <a:sy n="90" d="100"/>
        </p:scale>
        <p:origin x="39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091C2A-7698-481B-A4AD-9C29CF05B263}" type="datetimeFigureOut">
              <a:rPr lang="en-IN" smtClean="0"/>
              <a:t>26-10-2026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A1BFA8-5B3E-426F-AB9E-B2EC33A01D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85237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A1BFA8-5B3E-426F-AB9E-B2EC33A01DB6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21144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BA70C2-FB7C-1B5B-5AE5-B02531EEA0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7BCF03-CD43-D9A7-5EE9-15E01007EC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49CC97-4B8C-EE52-65DB-D43702752B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5552FA-4485-4C16-B86F-518D39977D3C}" type="datetimeFigureOut">
              <a:rPr lang="en-IN" smtClean="0"/>
              <a:t>26-10-2026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642198-9BF2-433F-6BC1-E127F57F3D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5CEB4A-1836-AE01-9A5F-43A67CC95D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C8D638-8D9C-473D-A5CE-63E9AC15C2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46486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486FC2-02BC-72D3-B800-66744572B3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CF96D2-A0EF-80CC-FE03-37B04C9E20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A18EFF-74AE-0C35-4BE3-1D67E96A1E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5552FA-4485-4C16-B86F-518D39977D3C}" type="datetimeFigureOut">
              <a:rPr lang="en-IN" smtClean="0"/>
              <a:t>26-10-2026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18E070-0554-BFAB-4238-E466AFC3AC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9D3F3B-09F2-415E-ED25-E340460B37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C8D638-8D9C-473D-A5CE-63E9AC15C2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75355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AC222B-7B46-C031-247C-16DD7F91FD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5CC0F2-F1F8-8EF9-49EA-2E0CE02B61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E88D66-A7F7-4551-FAE8-1370150E36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5552FA-4485-4C16-B86F-518D39977D3C}" type="datetimeFigureOut">
              <a:rPr lang="en-IN" smtClean="0"/>
              <a:t>26-10-2026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F05EDF-F276-CC87-47FB-C1CD4F8C4B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B0BF1B-7722-6E18-6518-E8CBF9EF42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C8D638-8D9C-473D-A5CE-63E9AC15C2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80742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1BFD73-D367-BA1F-71D6-79FD86D9AF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FAA242-0771-73E3-E49A-FC5061678F6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7E02C4-C38C-D280-CC7F-5FB2CFA8B0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0D845A-B6FF-FBB8-27B7-84CEEFE889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5552FA-4485-4C16-B86F-518D39977D3C}" type="datetimeFigureOut">
              <a:rPr lang="en-IN" smtClean="0"/>
              <a:t>26-10-2026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042DA4-2CA8-8954-523D-9A1A14C68D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F363C1-E867-86A3-66A4-412FFD29C9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C8D638-8D9C-473D-A5CE-63E9AC15C2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31750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5CD66C-148A-8A60-C584-4F97D26ADD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D4EE13-B1B6-1DBE-3E32-64D6EE4E2E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556EA3-F4F7-9290-2A5D-D0A87F9602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AF99372-3AFC-8247-AC3F-16757A91D43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3E158E3-D231-FB4C-CA95-706C1645BF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D00C70A-43E6-BAA2-8973-716D3710A5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5552FA-4485-4C16-B86F-518D39977D3C}" type="datetimeFigureOut">
              <a:rPr lang="en-IN" smtClean="0"/>
              <a:t>26-10-2026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28ADDED-5B1E-F596-6F94-34BE061712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A3C9B16-6E0B-71E1-D74B-7DF88D3522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C8D638-8D9C-473D-A5CE-63E9AC15C2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99522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0F1184-E001-B673-42B8-DC8CCC16D5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94DFC4-F98A-94AB-142E-7CE77F47F6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5552FA-4485-4C16-B86F-518D39977D3C}" type="datetimeFigureOut">
              <a:rPr lang="en-IN" smtClean="0"/>
              <a:t>26-10-2026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1B03678-E6EF-FC44-018C-501D779D79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BA8C209-3833-A249-0325-7C165B1DFB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C8D638-8D9C-473D-A5CE-63E9AC15C2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46283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73A8912-1477-E91B-14D8-D5A27F7456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5552FA-4485-4C16-B86F-518D39977D3C}" type="datetimeFigureOut">
              <a:rPr lang="en-IN" smtClean="0"/>
              <a:t>26-10-2026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8B4FB42-C2E0-378B-ADF3-8461681F39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C4ED93-66E0-2EBB-2A76-B91397A64F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C8D638-8D9C-473D-A5CE-63E9AC15C2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48086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4503E7-1A2B-0071-04C6-72A737BED7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BE9B64-DF68-BD3C-DC22-2181378C55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682FFE-1CF1-9C09-AAE6-4ADB92730E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CC8322-9F4A-FAE3-E20A-AB33F0B749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5552FA-4485-4C16-B86F-518D39977D3C}" type="datetimeFigureOut">
              <a:rPr lang="en-IN" smtClean="0"/>
              <a:t>26-10-2026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0D3D54-C470-64E8-EE9A-7F97358755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4CFE39-8565-2D57-8995-56311ADA3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C8D638-8D9C-473D-A5CE-63E9AC15C2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56363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193882-0C84-C7BC-50BC-DDFB135A7E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734EEBA-E31D-C073-38F2-3D4ECF90C2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450A1B-BDD9-F2AE-D479-5661EC301F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A6CCAC-FF64-731B-7A2A-ECF9387B50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5552FA-4485-4C16-B86F-518D39977D3C}" type="datetimeFigureOut">
              <a:rPr lang="en-IN" smtClean="0"/>
              <a:t>26-10-2026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3FAE-6308-96A3-40F0-4A8F440DCD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CDB62E-2146-7788-7D7B-BC1F6A8922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C8D638-8D9C-473D-A5CE-63E9AC15C2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45973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1416FD-26AC-BA31-192B-79F1AD895D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DF89F3D-D3C9-2B61-778F-76D27A51D5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7CC032-104A-B344-A56A-47DC0C2825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5552FA-4485-4C16-B86F-518D39977D3C}" type="datetimeFigureOut">
              <a:rPr lang="en-IN" smtClean="0"/>
              <a:t>26-10-2026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B46633-2C19-4B77-C1A0-69513BDBA2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A89AC8-581D-3A91-16FD-E42AF89424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C8D638-8D9C-473D-A5CE-63E9AC15C2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6888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85D0D3A-853A-28CB-FB92-D6BF6B50377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7D7F875-1118-0A94-13E0-3152045D84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8C2758-55A8-0FF3-A21B-6625EFAE9B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5552FA-4485-4C16-B86F-518D39977D3C}" type="datetimeFigureOut">
              <a:rPr lang="en-IN" smtClean="0"/>
              <a:t>26-10-2026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B37EC3-8F97-C4CC-8949-D860799E82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FF9E1E-88C7-8CAE-8E44-0966CEE6B8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C8D638-8D9C-473D-A5CE-63E9AC15C2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24185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BA4EAB6-3B0B-3A56-A5D4-15E4A885B4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537445-592E-05CD-6A36-24FB38F8B7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8B63DC-60CF-9EE4-89A7-0D79D9D07C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5552FA-4485-4C16-B86F-518D39977D3C}" type="datetimeFigureOut">
              <a:rPr lang="en-IN" smtClean="0"/>
              <a:t>26-10-2026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56BD38-F060-AFB2-90A1-E21E8F639DD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E1473B-3484-3D48-2DFE-1283ABFF25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C8D638-8D9C-473D-A5CE-63E9AC15C2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62276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link.springer.com/article/10.1007/s44196-024-00613-6?utm_source=chatgpt.com" TargetMode="External"/><Relationship Id="rId5" Type="http://schemas.openxmlformats.org/officeDocument/2006/relationships/hyperlink" Target="https://www.sciencedirect.com/science/article/abs/pii/S0165168424000422?utm_source=chatgpt.com" TargetMode="External"/><Relationship Id="rId4" Type="http://schemas.openxmlformats.org/officeDocument/2006/relationships/hyperlink" Target="https://www.sciencedirect.com/science/article/pii/S156849462300666X?utm_source=chatgpt.com" TargetMode="Externa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016/j.cose.2023.103378?utm_source=chatgpt.com" TargetMode="External"/><Relationship Id="rId7" Type="http://schemas.openxmlformats.org/officeDocument/2006/relationships/image" Target="../media/image3.jpeg"/><Relationship Id="rId2" Type="http://schemas.openxmlformats.org/officeDocument/2006/relationships/hyperlink" Target="https://doi.org/10.1002/spy2.402?utm_source=chatgpt.com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hyperlink" Target="https://doi.org/10.1109/ACCESS.2022.3183083?utm_source=chatgpt.com" TargetMode="External"/><Relationship Id="rId4" Type="http://schemas.openxmlformats.org/officeDocument/2006/relationships/hyperlink" Target="https://doi.org/10.32604/cmc.2024.057279?utm_source=chatgpt.com" TargetMode="Externa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 descr="SSE-Computer Science and Engineering">
            <a:extLst>
              <a:ext uri="{FF2B5EF4-FFF2-40B4-BE49-F238E27FC236}">
                <a16:creationId xmlns:a16="http://schemas.microsoft.com/office/drawing/2014/main" id="{F15DDDB5-B926-CD5D-EBF3-EDB66AD17B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8303" y="370393"/>
            <a:ext cx="9424035" cy="981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E80BC04-8872-ABA9-0678-215B9017DBA4}"/>
              </a:ext>
            </a:extLst>
          </p:cNvPr>
          <p:cNvSpPr txBox="1"/>
          <p:nvPr/>
        </p:nvSpPr>
        <p:spPr>
          <a:xfrm>
            <a:off x="786063" y="2069432"/>
            <a:ext cx="10122569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4600"/>
              </a:lnSpc>
            </a:pPr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Email Spam and Threat Detection System Using Python</a:t>
            </a:r>
            <a:endParaRPr lang="en-US" sz="3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EEF6276-1AC7-00CD-AF19-BD1675F84002}"/>
              </a:ext>
            </a:extLst>
          </p:cNvPr>
          <p:cNvSpPr txBox="1"/>
          <p:nvPr/>
        </p:nvSpPr>
        <p:spPr>
          <a:xfrm>
            <a:off x="6253316" y="3957572"/>
            <a:ext cx="545007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Hariharan G B  (192412390)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Gunda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Aswartha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Manidheep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(192425089)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Davis Damien M(192521124)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Pavankumar C(192511446)</a:t>
            </a:r>
          </a:p>
          <a:p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437373D-8CED-628D-F847-56FAD7CB362A}"/>
              </a:ext>
            </a:extLst>
          </p:cNvPr>
          <p:cNvSpPr txBox="1"/>
          <p:nvPr/>
        </p:nvSpPr>
        <p:spPr>
          <a:xfrm>
            <a:off x="941210" y="3957572"/>
            <a:ext cx="351322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Guided by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 Parthipan V</a:t>
            </a:r>
          </a:p>
        </p:txBody>
      </p:sp>
    </p:spTree>
    <p:extLst>
      <p:ext uri="{BB962C8B-B14F-4D97-AF65-F5344CB8AC3E}">
        <p14:creationId xmlns:p14="http://schemas.microsoft.com/office/powerpoint/2010/main" val="35221548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oogle Shape;125;p16">
            <a:extLst>
              <a:ext uri="{FF2B5EF4-FFF2-40B4-BE49-F238E27FC236}">
                <a16:creationId xmlns:a16="http://schemas.microsoft.com/office/drawing/2014/main" id="{34051130-85D4-0115-A293-E76E9DB5575C}"/>
              </a:ext>
            </a:extLst>
          </p:cNvPr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57655" y="124458"/>
            <a:ext cx="1320417" cy="1208548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126;p16">
            <a:extLst>
              <a:ext uri="{FF2B5EF4-FFF2-40B4-BE49-F238E27FC236}">
                <a16:creationId xmlns:a16="http://schemas.microsoft.com/office/drawing/2014/main" id="{4C1131A6-075A-7C7D-519F-61407DB7A682}"/>
              </a:ext>
            </a:extLst>
          </p:cNvPr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0671886" y="124458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7032816-3F71-31D0-E1A6-1D23087124EC}"/>
              </a:ext>
            </a:extLst>
          </p:cNvPr>
          <p:cNvSpPr txBox="1"/>
          <p:nvPr/>
        </p:nvSpPr>
        <p:spPr>
          <a:xfrm>
            <a:off x="2037385" y="441957"/>
            <a:ext cx="758067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DC3728B-8AD2-24E0-DE28-89356EE0F8EF}"/>
              </a:ext>
            </a:extLst>
          </p:cNvPr>
          <p:cNvSpPr txBox="1"/>
          <p:nvPr/>
        </p:nvSpPr>
        <p:spPr>
          <a:xfrm>
            <a:off x="506185" y="968070"/>
            <a:ext cx="10831286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n-IN" sz="2400" dirty="0"/>
              <a:t>Email is a common method of communication and a target for cyberattacks.</a:t>
            </a:r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n-IN" sz="2400" dirty="0"/>
              <a:t>Spam emails may contain phishing links and malicious content.</a:t>
            </a:r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n-IN" sz="2400" dirty="0"/>
              <a:t>Threat Intelligence helps identify and </a:t>
            </a:r>
            <a:r>
              <a:rPr lang="en-IN" sz="2400" dirty="0" err="1"/>
              <a:t>analyze</a:t>
            </a:r>
            <a:r>
              <a:rPr lang="en-IN" sz="2400" dirty="0"/>
              <a:t> potential email threats.</a:t>
            </a:r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n-IN" sz="2400" dirty="0"/>
              <a:t>Python and machine learning are used to classify emails as spam or legitimate.</a:t>
            </a:r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n-IN" sz="2400" dirty="0"/>
              <a:t>Suspicious keywords and URLs are checked to identify possible threats.</a:t>
            </a:r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n-IN" sz="2400" dirty="0"/>
              <a:t>The system helps users detect risky emails and improve email security.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 PROJECT FLOW</a:t>
            </a:r>
          </a:p>
          <a:p>
            <a:pPr>
              <a:lnSpc>
                <a:spcPct val="100000"/>
              </a:lnSpc>
            </a:pPr>
            <a:r>
              <a:rPr lang="en-IN" sz="2400" dirty="0"/>
              <a:t>Email Input → Text Preprocessing → Feature Extraction → Machine Learning Model → Spam Classification → Threat Detection → Result Display → Security Alert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12097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oogle Shape;125;p16">
            <a:extLst>
              <a:ext uri="{FF2B5EF4-FFF2-40B4-BE49-F238E27FC236}">
                <a16:creationId xmlns:a16="http://schemas.microsoft.com/office/drawing/2014/main" id="{81786177-1F60-7CC9-E43E-E421F0E842EB}"/>
              </a:ext>
            </a:extLst>
          </p:cNvPr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57655" y="124458"/>
            <a:ext cx="1320417" cy="1208548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126;p16">
            <a:extLst>
              <a:ext uri="{FF2B5EF4-FFF2-40B4-BE49-F238E27FC236}">
                <a16:creationId xmlns:a16="http://schemas.microsoft.com/office/drawing/2014/main" id="{8167DF27-5625-A1D7-0667-B7F803B319A2}"/>
              </a:ext>
            </a:extLst>
          </p:cNvPr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10671886" y="124458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CBE95D1-DD3C-76FA-505C-B8C4FFC03BFE}"/>
              </a:ext>
            </a:extLst>
          </p:cNvPr>
          <p:cNvSpPr txBox="1"/>
          <p:nvPr/>
        </p:nvSpPr>
        <p:spPr>
          <a:xfrm>
            <a:off x="3048000" y="441957"/>
            <a:ext cx="6096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313D4D8-C3C6-6A9A-C54F-17929EFD915B}"/>
              </a:ext>
            </a:extLst>
          </p:cNvPr>
          <p:cNvSpPr txBox="1"/>
          <p:nvPr/>
        </p:nvSpPr>
        <p:spPr>
          <a:xfrm>
            <a:off x="869134" y="944913"/>
            <a:ext cx="10134600" cy="4616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Spam emails create unwanted messages and waste users’ time.</a:t>
            </a:r>
          </a:p>
          <a:p>
            <a:pPr marL="342900" lvl="0" indent="-342900">
              <a:buFont typeface="Wingdings" panose="05000000000000000000" pitchFamily="2" charset="2"/>
              <a:buChar char="§"/>
            </a:pPr>
            <a:r>
              <a:rPr lang="en-IN" sz="2400" dirty="0"/>
              <a:t>Phishing emails may contain fraudulent links and malicious content.</a:t>
            </a:r>
          </a:p>
          <a:p>
            <a:pPr marL="342900" lvl="0" indent="-342900">
              <a:buFont typeface="Wingdings" panose="05000000000000000000" pitchFamily="2" charset="2"/>
              <a:buChar char="§"/>
            </a:pPr>
            <a:r>
              <a:rPr lang="en-IN" sz="2400" dirty="0"/>
              <a:t>Traditional manual email checking is time-consuming.</a:t>
            </a:r>
          </a:p>
          <a:p>
            <a:pPr marL="342900" lvl="0" indent="-342900">
              <a:buFont typeface="Wingdings" panose="05000000000000000000" pitchFamily="2" charset="2"/>
              <a:buChar char="§"/>
            </a:pPr>
            <a:r>
              <a:rPr lang="en-IN" sz="2400" dirty="0"/>
              <a:t>Suspicious email threats may go unnoticed by users.</a:t>
            </a:r>
          </a:p>
          <a:p>
            <a:pPr marL="342900" lvl="0" indent="-342900">
              <a:buFont typeface="Wingdings" panose="05000000000000000000" pitchFamily="2" charset="2"/>
              <a:buChar char="§"/>
            </a:pPr>
            <a:r>
              <a:rPr lang="en-IN" sz="2400" dirty="0"/>
              <a:t>There is a need for an automated email detection system using Python.</a:t>
            </a:r>
          </a:p>
          <a:p>
            <a:pPr marL="342900" lvl="0" indent="-342900">
              <a:buFont typeface="Wingdings" panose="05000000000000000000" pitchFamily="2" charset="2"/>
              <a:buChar char="§"/>
            </a:pPr>
            <a:r>
              <a:rPr lang="en-IN" sz="2400" dirty="0"/>
              <a:t>The system should classify spam emails and identify potential threats using Threat Intelligence concepts.</a:t>
            </a:r>
          </a:p>
          <a:p>
            <a:pPr marL="342900" lvl="0" indent="-342900">
              <a:buFont typeface="Wingdings" panose="05000000000000000000" pitchFamily="2" charset="2"/>
              <a:buChar char="§"/>
            </a:pPr>
            <a:r>
              <a:rPr lang="en-IN" sz="2400" dirty="0"/>
              <a:t>Security alerts should help users recognize suspicious emails and improve email safety.</a:t>
            </a:r>
          </a:p>
          <a:p>
            <a:br>
              <a:rPr lang="en-IN" sz="2400" dirty="0"/>
            </a:b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86793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oogle Shape;125;p16">
            <a:extLst>
              <a:ext uri="{FF2B5EF4-FFF2-40B4-BE49-F238E27FC236}">
                <a16:creationId xmlns:a16="http://schemas.microsoft.com/office/drawing/2014/main" id="{F9B4779E-3E8E-E1EB-1DE0-CD376FE25404}"/>
              </a:ext>
            </a:extLst>
          </p:cNvPr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57655" y="124458"/>
            <a:ext cx="1320417" cy="1208548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126;p16">
            <a:extLst>
              <a:ext uri="{FF2B5EF4-FFF2-40B4-BE49-F238E27FC236}">
                <a16:creationId xmlns:a16="http://schemas.microsoft.com/office/drawing/2014/main" id="{61257E99-D005-A27D-77BB-7468F087D606}"/>
              </a:ext>
            </a:extLst>
          </p:cNvPr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0671886" y="124458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2588B27-D7C6-6036-F648-F231A9BF6A51}"/>
              </a:ext>
            </a:extLst>
          </p:cNvPr>
          <p:cNvSpPr txBox="1"/>
          <p:nvPr/>
        </p:nvSpPr>
        <p:spPr>
          <a:xfrm>
            <a:off x="2003890" y="338345"/>
            <a:ext cx="745957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253A4A5-62F3-EB65-70C5-7D579275B133}"/>
              </a:ext>
            </a:extLst>
          </p:cNvPr>
          <p:cNvSpPr txBox="1"/>
          <p:nvPr/>
        </p:nvSpPr>
        <p:spPr>
          <a:xfrm>
            <a:off x="817863" y="1333006"/>
            <a:ext cx="11437181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buFont typeface="Wingdings" panose="05000000000000000000" pitchFamily="2" charset="2"/>
              <a:buChar char="q"/>
            </a:pPr>
            <a:r>
              <a:rPr lang="en-IN" sz="2400" dirty="0"/>
              <a:t>To develop an email spam and threat detection system using Python.</a:t>
            </a:r>
          </a:p>
          <a:p>
            <a:pPr marL="342900" lvl="0" indent="-342900">
              <a:buFont typeface="Wingdings" panose="05000000000000000000" pitchFamily="2" charset="2"/>
              <a:buChar char="q"/>
            </a:pPr>
            <a:endParaRPr lang="en-IN" sz="2400" dirty="0"/>
          </a:p>
          <a:p>
            <a:pPr marL="342900" lvl="0" indent="-342900">
              <a:buFont typeface="Wingdings" panose="05000000000000000000" pitchFamily="2" charset="2"/>
              <a:buChar char="q"/>
            </a:pPr>
            <a:r>
              <a:rPr lang="en-IN" sz="2400" dirty="0"/>
              <a:t>To identify and classify spam and legitimate emails.</a:t>
            </a:r>
          </a:p>
          <a:p>
            <a:pPr marL="342900" lvl="0" indent="-342900">
              <a:buFont typeface="Wingdings" panose="05000000000000000000" pitchFamily="2" charset="2"/>
              <a:buChar char="q"/>
            </a:pPr>
            <a:endParaRPr lang="en-IN" sz="2400" dirty="0"/>
          </a:p>
          <a:p>
            <a:pPr marL="342900" lvl="0" indent="-342900">
              <a:buFont typeface="Wingdings" panose="05000000000000000000" pitchFamily="2" charset="2"/>
              <a:buChar char="q"/>
            </a:pPr>
            <a:r>
              <a:rPr lang="en-IN" sz="2400" dirty="0"/>
              <a:t>To </a:t>
            </a:r>
            <a:r>
              <a:rPr lang="en-IN" sz="2400" dirty="0" err="1"/>
              <a:t>analyze</a:t>
            </a:r>
            <a:r>
              <a:rPr lang="en-IN" sz="2400" dirty="0"/>
              <a:t> email content using machine learning techniques.</a:t>
            </a:r>
          </a:p>
          <a:p>
            <a:pPr marL="342900" lvl="0" indent="-342900">
              <a:buFont typeface="Wingdings" panose="05000000000000000000" pitchFamily="2" charset="2"/>
              <a:buChar char="q"/>
            </a:pPr>
            <a:endParaRPr lang="en-IN" sz="2400" dirty="0"/>
          </a:p>
          <a:p>
            <a:pPr marL="342900" lvl="0" indent="-342900">
              <a:buFont typeface="Wingdings" panose="05000000000000000000" pitchFamily="2" charset="2"/>
              <a:buChar char="q"/>
            </a:pPr>
            <a:r>
              <a:rPr lang="en-IN" sz="2400" dirty="0"/>
              <a:t>To detect suspicious links and phishing-related keywords.</a:t>
            </a:r>
          </a:p>
          <a:p>
            <a:pPr marL="342900" lvl="0" indent="-342900">
              <a:buFont typeface="Wingdings" panose="05000000000000000000" pitchFamily="2" charset="2"/>
              <a:buChar char="q"/>
            </a:pPr>
            <a:endParaRPr lang="en-IN" sz="2400" dirty="0"/>
          </a:p>
          <a:p>
            <a:pPr marL="342900" lvl="0" indent="-342900">
              <a:buFont typeface="Wingdings" panose="05000000000000000000" pitchFamily="2" charset="2"/>
              <a:buChar char="q"/>
            </a:pPr>
            <a:r>
              <a:rPr lang="en-IN" sz="2400" dirty="0"/>
              <a:t>To apply Threat Intelligence concepts to identify potential cyber threats.</a:t>
            </a:r>
          </a:p>
          <a:p>
            <a:pPr marL="342900" lvl="0" indent="-342900">
              <a:buFont typeface="Wingdings" panose="05000000000000000000" pitchFamily="2" charset="2"/>
              <a:buChar char="q"/>
            </a:pPr>
            <a:endParaRPr lang="en-IN" sz="2400" dirty="0"/>
          </a:p>
          <a:p>
            <a:pPr marL="342900" lvl="0" indent="-342900">
              <a:buFont typeface="Wingdings" panose="05000000000000000000" pitchFamily="2" charset="2"/>
              <a:buChar char="q"/>
            </a:pPr>
            <a:r>
              <a:rPr lang="en-IN" sz="2400" dirty="0"/>
              <a:t>To generate alerts for suspicious emails.</a:t>
            </a:r>
          </a:p>
          <a:p>
            <a:pPr marL="342900" lvl="0" indent="-342900">
              <a:buFont typeface="Wingdings" panose="05000000000000000000" pitchFamily="2" charset="2"/>
              <a:buChar char="q"/>
            </a:pPr>
            <a:endParaRPr lang="en-IN" sz="2400" dirty="0"/>
          </a:p>
          <a:p>
            <a:pPr marL="342900" lvl="0" indent="-342900">
              <a:buFont typeface="Wingdings" panose="05000000000000000000" pitchFamily="2" charset="2"/>
              <a:buChar char="q"/>
            </a:pPr>
            <a:r>
              <a:rPr lang="en-IN" sz="2400" dirty="0"/>
              <a:t>To improve email security and protect users from potential cyberattacks.</a:t>
            </a:r>
          </a:p>
          <a:p>
            <a:br>
              <a:rPr lang="en-IN" sz="2400" dirty="0"/>
            </a:b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3927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oogle Shape;125;p16">
            <a:extLst>
              <a:ext uri="{FF2B5EF4-FFF2-40B4-BE49-F238E27FC236}">
                <a16:creationId xmlns:a16="http://schemas.microsoft.com/office/drawing/2014/main" id="{DB1980CE-5636-637D-ECC5-11A010CA09D4}"/>
              </a:ext>
            </a:extLst>
          </p:cNvPr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57655" y="124458"/>
            <a:ext cx="1320417" cy="1208548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126;p16">
            <a:extLst>
              <a:ext uri="{FF2B5EF4-FFF2-40B4-BE49-F238E27FC236}">
                <a16:creationId xmlns:a16="http://schemas.microsoft.com/office/drawing/2014/main" id="{8A78BF21-E5F3-FC62-6D55-349ADEFD05C4}"/>
              </a:ext>
            </a:extLst>
          </p:cNvPr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0582055" y="57289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F33B833-0F0F-4954-8988-9E5BB5FCA353}"/>
              </a:ext>
            </a:extLst>
          </p:cNvPr>
          <p:cNvSpPr txBox="1"/>
          <p:nvPr/>
        </p:nvSpPr>
        <p:spPr>
          <a:xfrm>
            <a:off x="1640630" y="436344"/>
            <a:ext cx="886869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DESIGN ARCHITECTURE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AA77EEB-D926-EADB-F515-31E45E533A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29245" y="1135418"/>
            <a:ext cx="9378181" cy="5286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759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oogle Shape;125;p16">
            <a:extLst>
              <a:ext uri="{FF2B5EF4-FFF2-40B4-BE49-F238E27FC236}">
                <a16:creationId xmlns:a16="http://schemas.microsoft.com/office/drawing/2014/main" id="{C7023DC4-8E5B-98D7-F1A1-10DFC1F1829E}"/>
              </a:ext>
            </a:extLst>
          </p:cNvPr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57655" y="124458"/>
            <a:ext cx="1320417" cy="1208548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126;p16">
            <a:extLst>
              <a:ext uri="{FF2B5EF4-FFF2-40B4-BE49-F238E27FC236}">
                <a16:creationId xmlns:a16="http://schemas.microsoft.com/office/drawing/2014/main" id="{3B647EEE-78EC-BE1E-EB37-401D4521E5BF}"/>
              </a:ext>
            </a:extLst>
          </p:cNvPr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0671886" y="124458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E910104-8D83-089D-16C5-709EF441A321}"/>
              </a:ext>
            </a:extLst>
          </p:cNvPr>
          <p:cNvSpPr txBox="1"/>
          <p:nvPr/>
        </p:nvSpPr>
        <p:spPr>
          <a:xfrm>
            <a:off x="2139902" y="503512"/>
            <a:ext cx="745957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 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C594EB24-81BF-CE95-BED4-5F93D9B9C0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0644567"/>
              </p:ext>
            </p:extLst>
          </p:nvPr>
        </p:nvGraphicFramePr>
        <p:xfrm>
          <a:off x="283030" y="1622449"/>
          <a:ext cx="11658600" cy="497513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16505">
                  <a:extLst>
                    <a:ext uri="{9D8B030D-6E8A-4147-A177-3AD203B41FA5}">
                      <a16:colId xmlns:a16="http://schemas.microsoft.com/office/drawing/2014/main" val="1445594401"/>
                    </a:ext>
                  </a:extLst>
                </a:gridCol>
                <a:gridCol w="3746091">
                  <a:extLst>
                    <a:ext uri="{9D8B030D-6E8A-4147-A177-3AD203B41FA5}">
                      <a16:colId xmlns:a16="http://schemas.microsoft.com/office/drawing/2014/main" val="1303644058"/>
                    </a:ext>
                  </a:extLst>
                </a:gridCol>
                <a:gridCol w="2290916">
                  <a:extLst>
                    <a:ext uri="{9D8B030D-6E8A-4147-A177-3AD203B41FA5}">
                      <a16:colId xmlns:a16="http://schemas.microsoft.com/office/drawing/2014/main" val="3597165245"/>
                    </a:ext>
                  </a:extLst>
                </a:gridCol>
                <a:gridCol w="2310581">
                  <a:extLst>
                    <a:ext uri="{9D8B030D-6E8A-4147-A177-3AD203B41FA5}">
                      <a16:colId xmlns:a16="http://schemas.microsoft.com/office/drawing/2014/main" val="3267476611"/>
                    </a:ext>
                  </a:extLst>
                </a:gridCol>
                <a:gridCol w="2394507">
                  <a:extLst>
                    <a:ext uri="{9D8B030D-6E8A-4147-A177-3AD203B41FA5}">
                      <a16:colId xmlns:a16="http://schemas.microsoft.com/office/drawing/2014/main" val="3749097945"/>
                    </a:ext>
                  </a:extLst>
                </a:gridCol>
              </a:tblGrid>
              <a:tr h="7384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S.NO</a:t>
                      </a: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DETAILS OF THE JOURNAL</a:t>
                      </a: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ALGORITHM / METHODOLOGY USED</a:t>
                      </a: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ADVANTAGES</a:t>
                      </a: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DISADVANTAGES</a:t>
                      </a: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0536744"/>
                  </a:ext>
                </a:extLst>
              </a:tr>
              <a:tr h="10804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N" sz="1400" b="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Machine-Learning-Based Spam Mail Detector</a:t>
                      </a:r>
                      <a:r>
                        <a:rPr lang="en-IN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(2023</a:t>
                      </a:r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 </a:t>
                      </a:r>
                    </a:p>
                    <a:p>
                      <a:br>
                        <a:rPr lang="en-IN" sz="1600" dirty="0"/>
                      </a:br>
                      <a:endParaRPr lang="en-US" sz="15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Machine Learning</a:t>
                      </a:r>
                      <a:endParaRPr lang="en-US" sz="14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Automatically classifies spam emails</a:t>
                      </a:r>
                      <a:endParaRPr lang="en-US" sz="14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Depends on dataset quality</a:t>
                      </a:r>
                      <a:r>
                        <a:rPr lang="en-US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4" tooltip="Visual Secret Sharing of Gray and Color Images using Fuzzy Random Grids - ScienceDirect"/>
                        </a:rPr>
                        <a:t>ScienceDirect</a:t>
                      </a:r>
                      <a:r>
                        <a:rPr lang="en-US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595272"/>
                  </a:ext>
                </a:extLst>
              </a:tr>
              <a:tr h="10520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N" sz="1400" b="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Improving Spam Email Classification Accuracy Using Ensemble Techniques</a:t>
                      </a:r>
                      <a:r>
                        <a:rPr lang="en-IN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(2024) 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Ensemble Learning</a:t>
                      </a:r>
                      <a:endParaRPr lang="en-US" sz="14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Combines multiple classifiers</a:t>
                      </a:r>
                      <a:endParaRPr lang="en-US" sz="14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Requires additional processing</a:t>
                      </a:r>
                      <a:r>
                        <a:rPr lang="en-US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5" tooltip="Robust secret image sharing scheme with improved anti-noise capability - ScienceDirect"/>
                        </a:rPr>
                        <a:t>ScienceDirect</a:t>
                      </a:r>
                      <a:r>
                        <a:rPr lang="en-US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3698255"/>
                  </a:ext>
                </a:extLst>
              </a:tr>
              <a:tr h="10520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Phishing URL Detection Generalisation Using Unsupervised Domain Adaptation</a:t>
                      </a:r>
                      <a:r>
                        <a:rPr lang="en-IN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(2024)</a:t>
                      </a:r>
                      <a:endParaRPr lang="en-US" sz="1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Machine Learning and Domain Adaptation</a:t>
                      </a:r>
                      <a:endParaRPr lang="en-IN" sz="14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Addresses detection of unfamiliar phishing URLs</a:t>
                      </a:r>
                      <a:endParaRPr lang="en-US" sz="14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Generalization remains difficult</a:t>
                      </a:r>
                      <a:r>
                        <a:rPr lang="en-US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6" tooltip="Improving Multi-pixel Visual Quality of Invariant Visual Cryptography Scheme | International Journal of Computational Intelligence Systems | Springer Nature Link"/>
                        </a:rPr>
                        <a:t>Springer</a:t>
                      </a:r>
                      <a:r>
                        <a:rPr lang="en-US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1599678"/>
                  </a:ext>
                </a:extLst>
              </a:tr>
              <a:tr h="10520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Comparative Analysis of Machine Learning Algorithms for Email Phishing Detection</a:t>
                      </a:r>
                      <a:r>
                        <a:rPr lang="en-IN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(2024) </a:t>
                      </a:r>
                      <a:endParaRPr lang="en-US" sz="14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TF-IDF, Word2Vec, BERT</a:t>
                      </a:r>
                      <a:endParaRPr lang="en-US" sz="14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Compares text-processing Compares text-processing</a:t>
                      </a:r>
                      <a:endParaRPr lang="en-US" sz="14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Advanced models require more resources</a:t>
                      </a:r>
                      <a:endParaRPr lang="en-US" sz="14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22204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427365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4666397-5CF0-E896-04DE-12CA44F5721B}"/>
              </a:ext>
            </a:extLst>
          </p:cNvPr>
          <p:cNvSpPr txBox="1"/>
          <p:nvPr/>
        </p:nvSpPr>
        <p:spPr>
          <a:xfrm>
            <a:off x="512233" y="848324"/>
            <a:ext cx="1116753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1: </a:t>
            </a:r>
            <a:r>
              <a:rPr lang="en-IN" sz="4000" dirty="0"/>
              <a:t>Email Dataset Collection and Loading</a:t>
            </a: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815BE8C-71F7-03C0-25C9-C07AE197DED4}"/>
              </a:ext>
            </a:extLst>
          </p:cNvPr>
          <p:cNvSpPr txBox="1"/>
          <p:nvPr/>
        </p:nvSpPr>
        <p:spPr>
          <a:xfrm>
            <a:off x="1892299" y="2419402"/>
            <a:ext cx="8407400" cy="224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Use a </a:t>
            </a:r>
            <a:r>
              <a:rPr lang="en-IN" sz="2400" dirty="0" err="1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labeled</a:t>
            </a:r>
            <a:r>
              <a:rPr lang="en-IN" sz="24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dataset containing spam and legitimate messages.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Load the dataset into Python using Pandas.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Check the dataset structure and message labels.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Divide the dataset into training and testing sets.</a:t>
            </a:r>
          </a:p>
        </p:txBody>
      </p:sp>
    </p:spTree>
    <p:extLst>
      <p:ext uri="{BB962C8B-B14F-4D97-AF65-F5344CB8AC3E}">
        <p14:creationId xmlns:p14="http://schemas.microsoft.com/office/powerpoint/2010/main" val="2101550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FD79E6-8F23-7272-4460-4FEAF8ED23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52251AF-EFE8-FE45-18BB-1544D818FB63}"/>
              </a:ext>
            </a:extLst>
          </p:cNvPr>
          <p:cNvSpPr txBox="1"/>
          <p:nvPr/>
        </p:nvSpPr>
        <p:spPr>
          <a:xfrm>
            <a:off x="512233" y="848324"/>
            <a:ext cx="11167533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2: </a:t>
            </a:r>
            <a:r>
              <a:rPr lang="en-IN" sz="4000" dirty="0"/>
              <a:t>Email Text Preprocessing and Feature Extraction</a:t>
            </a:r>
          </a:p>
          <a:p>
            <a:pPr algn="ctr"/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D4A4E38-57AF-DC6C-38BE-33195E348B17}"/>
              </a:ext>
            </a:extLst>
          </p:cNvPr>
          <p:cNvSpPr txBox="1"/>
          <p:nvPr/>
        </p:nvSpPr>
        <p:spPr>
          <a:xfrm>
            <a:off x="1185333" y="2787316"/>
            <a:ext cx="8936566" cy="22510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/>
              <a:t>Convert text to a consistent format.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/>
              <a:t>Remove unnecessary text noise where appropriate.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/>
              <a:t>Apply TF-IDF vectorization.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/>
              <a:t>Convert messages into numerical representations for classification.</a:t>
            </a:r>
          </a:p>
        </p:txBody>
      </p:sp>
    </p:spTree>
    <p:extLst>
      <p:ext uri="{BB962C8B-B14F-4D97-AF65-F5344CB8AC3E}">
        <p14:creationId xmlns:p14="http://schemas.microsoft.com/office/powerpoint/2010/main" val="28696111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D23672-2C6B-5047-31AF-ABFAB73659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9CC7424-1505-0915-3C88-774491B526D4}"/>
              </a:ext>
            </a:extLst>
          </p:cNvPr>
          <p:cNvSpPr txBox="1"/>
          <p:nvPr/>
        </p:nvSpPr>
        <p:spPr>
          <a:xfrm>
            <a:off x="512233" y="848324"/>
            <a:ext cx="11167533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3: </a:t>
            </a:r>
            <a:r>
              <a:rPr lang="en-IN" sz="4000" dirty="0"/>
              <a:t>Spam and Threat Classification Using Machine Learning</a:t>
            </a: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4D4C729-114D-0DBA-9731-B9FC0C8A4FD3}"/>
              </a:ext>
            </a:extLst>
          </p:cNvPr>
          <p:cNvSpPr txBox="1"/>
          <p:nvPr/>
        </p:nvSpPr>
        <p:spPr>
          <a:xfrm>
            <a:off x="1579034" y="2960745"/>
            <a:ext cx="8407400" cy="22510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/>
              <a:t>Use the Multinomial Naive Bayes algorithm.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/>
              <a:t>Train the model using </a:t>
            </a:r>
            <a:r>
              <a:rPr lang="en-IN" sz="2400" dirty="0" err="1"/>
              <a:t>labeled</a:t>
            </a:r>
            <a:r>
              <a:rPr lang="en-IN" sz="2400" dirty="0"/>
              <a:t> message data.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/>
              <a:t>Test the model using unseen messages.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/>
              <a:t>Predict the category of a new message.</a:t>
            </a:r>
          </a:p>
        </p:txBody>
      </p:sp>
    </p:spTree>
    <p:extLst>
      <p:ext uri="{BB962C8B-B14F-4D97-AF65-F5344CB8AC3E}">
        <p14:creationId xmlns:p14="http://schemas.microsoft.com/office/powerpoint/2010/main" val="42780112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0BDF7A-67DA-DE80-DF52-A48B8B20C6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F108D24-FBC1-A5AE-D389-58E80CC79D48}"/>
              </a:ext>
            </a:extLst>
          </p:cNvPr>
          <p:cNvSpPr txBox="1"/>
          <p:nvPr/>
        </p:nvSpPr>
        <p:spPr>
          <a:xfrm>
            <a:off x="512233" y="848324"/>
            <a:ext cx="11167533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4: </a:t>
            </a:r>
            <a:r>
              <a:rPr lang="en-IN" sz="4000" dirty="0"/>
              <a:t>Result Display and Threat Alert Generation</a:t>
            </a: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0A4C2C7-8E79-31B5-8256-ECF8199054A0}"/>
              </a:ext>
            </a:extLst>
          </p:cNvPr>
          <p:cNvSpPr txBox="1"/>
          <p:nvPr/>
        </p:nvSpPr>
        <p:spPr>
          <a:xfrm>
            <a:off x="1689099" y="2758068"/>
            <a:ext cx="8407400" cy="22510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/>
              <a:t>Provide a text input field for the user.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/>
              <a:t>Display the predicted result.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/>
              <a:t>Show a warning for messages classified as spam.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/>
              <a:t>Use </a:t>
            </a:r>
            <a:r>
              <a:rPr lang="en-IN" sz="2400" dirty="0" err="1"/>
              <a:t>Streamlit</a:t>
            </a:r>
            <a:r>
              <a:rPr lang="en-IN" sz="2400" dirty="0"/>
              <a:t> to create a simple web interface.</a:t>
            </a:r>
          </a:p>
        </p:txBody>
      </p:sp>
    </p:spTree>
    <p:extLst>
      <p:ext uri="{BB962C8B-B14F-4D97-AF65-F5344CB8AC3E}">
        <p14:creationId xmlns:p14="http://schemas.microsoft.com/office/powerpoint/2010/main" val="36521556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813CD2-16EC-BAF0-99F2-2B616C4716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oogle Shape;125;p16">
            <a:extLst>
              <a:ext uri="{FF2B5EF4-FFF2-40B4-BE49-F238E27FC236}">
                <a16:creationId xmlns:a16="http://schemas.microsoft.com/office/drawing/2014/main" id="{DC58E6B9-7A7F-6D2D-B819-4D46D37F919D}"/>
              </a:ext>
            </a:extLst>
          </p:cNvPr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57655" y="124458"/>
            <a:ext cx="1320417" cy="1208548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126;p16">
            <a:extLst>
              <a:ext uri="{FF2B5EF4-FFF2-40B4-BE49-F238E27FC236}">
                <a16:creationId xmlns:a16="http://schemas.microsoft.com/office/drawing/2014/main" id="{127F3701-E975-BE2E-9459-7BA6C0DA1AB7}"/>
              </a:ext>
            </a:extLst>
          </p:cNvPr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0671886" y="124458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3CFA627-BD6D-2D78-EFA4-97432BB992CD}"/>
              </a:ext>
            </a:extLst>
          </p:cNvPr>
          <p:cNvSpPr txBox="1"/>
          <p:nvPr/>
        </p:nvSpPr>
        <p:spPr>
          <a:xfrm>
            <a:off x="2949678" y="441957"/>
            <a:ext cx="6096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AF951FC-919D-5F24-7B38-E1856000C5CC}"/>
              </a:ext>
            </a:extLst>
          </p:cNvPr>
          <p:cNvSpPr txBox="1"/>
          <p:nvPr/>
        </p:nvSpPr>
        <p:spPr>
          <a:xfrm>
            <a:off x="639097" y="1345174"/>
            <a:ext cx="10717162" cy="58169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endParaRPr lang="en-IN" dirty="0"/>
          </a:p>
          <a:p>
            <a:pPr lvl="0"/>
            <a:endParaRPr lang="en-IN" dirty="0"/>
          </a:p>
          <a:p>
            <a:pPr marL="342900" lvl="0" indent="-342900">
              <a:buFont typeface="Wingdings" panose="05000000000000000000" pitchFamily="2" charset="2"/>
              <a:buChar char="q"/>
            </a:pPr>
            <a:r>
              <a:rPr lang="en-IN" sz="2400" dirty="0"/>
              <a:t>The proposed system detects spam and potentially harmful emails using Python.</a:t>
            </a:r>
          </a:p>
          <a:p>
            <a:pPr marL="342900" lvl="0" indent="-342900">
              <a:buFont typeface="Wingdings" panose="05000000000000000000" pitchFamily="2" charset="2"/>
              <a:buChar char="q"/>
            </a:pPr>
            <a:endParaRPr lang="en-IN" sz="2400" dirty="0"/>
          </a:p>
          <a:p>
            <a:pPr marL="342900" lvl="0" indent="-342900">
              <a:buFont typeface="Wingdings" panose="05000000000000000000" pitchFamily="2" charset="2"/>
              <a:buChar char="q"/>
            </a:pPr>
            <a:r>
              <a:rPr lang="en-IN" sz="2400" dirty="0"/>
              <a:t>Machine learning helps classify emails as spam or legitimate.</a:t>
            </a:r>
          </a:p>
          <a:p>
            <a:pPr marL="342900" lvl="0" indent="-342900">
              <a:buFont typeface="Wingdings" panose="05000000000000000000" pitchFamily="2" charset="2"/>
              <a:buChar char="q"/>
            </a:pPr>
            <a:endParaRPr lang="en-IN" sz="2400" dirty="0"/>
          </a:p>
          <a:p>
            <a:pPr marL="342900" lvl="0" indent="-342900">
              <a:buFont typeface="Wingdings" panose="05000000000000000000" pitchFamily="2" charset="2"/>
              <a:buChar char="q"/>
            </a:pPr>
            <a:r>
              <a:rPr lang="en-IN" sz="2400" dirty="0"/>
              <a:t>Threat Intelligence techniques help identify suspicious links and phishing patterns.</a:t>
            </a:r>
          </a:p>
          <a:p>
            <a:pPr marL="342900" lvl="0" indent="-342900">
              <a:buFont typeface="Wingdings" panose="05000000000000000000" pitchFamily="2" charset="2"/>
              <a:buChar char="q"/>
            </a:pPr>
            <a:endParaRPr lang="en-IN" sz="2400" dirty="0"/>
          </a:p>
          <a:p>
            <a:pPr marL="342900" lvl="0" indent="-342900">
              <a:buFont typeface="Wingdings" panose="05000000000000000000" pitchFamily="2" charset="2"/>
              <a:buChar char="q"/>
            </a:pPr>
            <a:r>
              <a:rPr lang="en-IN" sz="2400" dirty="0"/>
              <a:t>Security alerts help users recognize potential email threats.</a:t>
            </a:r>
          </a:p>
          <a:p>
            <a:pPr marL="342900" lvl="0" indent="-342900">
              <a:buFont typeface="Wingdings" panose="05000000000000000000" pitchFamily="2" charset="2"/>
              <a:buChar char="q"/>
            </a:pPr>
            <a:endParaRPr lang="en-IN" sz="2400" dirty="0"/>
          </a:p>
          <a:p>
            <a:pPr marL="342900" lvl="0" indent="-342900">
              <a:buFont typeface="Wingdings" panose="05000000000000000000" pitchFamily="2" charset="2"/>
              <a:buChar char="q"/>
            </a:pPr>
            <a:r>
              <a:rPr lang="en-IN" sz="2400" dirty="0"/>
              <a:t>Performance metrics help evaluate the accuracy of the detection model.</a:t>
            </a:r>
          </a:p>
          <a:p>
            <a:pPr marL="342900" lvl="0" indent="-342900">
              <a:buFont typeface="Wingdings" panose="05000000000000000000" pitchFamily="2" charset="2"/>
              <a:buChar char="q"/>
            </a:pPr>
            <a:endParaRPr lang="en-IN" sz="2400" dirty="0"/>
          </a:p>
          <a:p>
            <a:pPr marL="342900" lvl="0" indent="-342900">
              <a:buFont typeface="Wingdings" panose="05000000000000000000" pitchFamily="2" charset="2"/>
              <a:buChar char="q"/>
            </a:pPr>
            <a:r>
              <a:rPr lang="en-IN" sz="2400" dirty="0"/>
              <a:t>Overall, the system improves email security and helps protect users from potential cyberattacks.</a:t>
            </a:r>
          </a:p>
          <a:p>
            <a:br>
              <a:rPr lang="en-IN" sz="2400" dirty="0"/>
            </a:b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50707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DE41C1-FD4E-54C5-1210-67CDB4B017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oogle Shape;125;p16">
            <a:extLst>
              <a:ext uri="{FF2B5EF4-FFF2-40B4-BE49-F238E27FC236}">
                <a16:creationId xmlns:a16="http://schemas.microsoft.com/office/drawing/2014/main" id="{9A2DFA85-1716-77BD-5472-2BDE87992B18}"/>
              </a:ext>
            </a:extLst>
          </p:cNvPr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57655" y="124458"/>
            <a:ext cx="1320417" cy="1208548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126;p16">
            <a:extLst>
              <a:ext uri="{FF2B5EF4-FFF2-40B4-BE49-F238E27FC236}">
                <a16:creationId xmlns:a16="http://schemas.microsoft.com/office/drawing/2014/main" id="{7CDFA567-F51E-35F6-E709-CB044D908756}"/>
              </a:ext>
            </a:extLst>
          </p:cNvPr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0671886" y="124458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F0CD0B6-0354-0C24-F77D-2E8864F94B1A}"/>
              </a:ext>
            </a:extLst>
          </p:cNvPr>
          <p:cNvSpPr txBox="1"/>
          <p:nvPr/>
        </p:nvSpPr>
        <p:spPr>
          <a:xfrm>
            <a:off x="2594185" y="411127"/>
            <a:ext cx="7003630" cy="905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N" sz="4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FUTURE ENHANCEMENTS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CF0E00F-8EFC-0787-EE4E-CA0E92FDEC57}"/>
              </a:ext>
            </a:extLst>
          </p:cNvPr>
          <p:cNvSpPr txBox="1"/>
          <p:nvPr/>
        </p:nvSpPr>
        <p:spPr>
          <a:xfrm>
            <a:off x="1178206" y="1725514"/>
            <a:ext cx="7933137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Wingdings" panose="05000000000000000000" pitchFamily="2" charset="2"/>
              <a:buChar char="q"/>
            </a:pPr>
            <a:r>
              <a:rPr lang="en-IN" sz="2400" dirty="0"/>
              <a:t>Integrate advanced AI and machine learning algorithms for better email detection.</a:t>
            </a:r>
          </a:p>
          <a:p>
            <a:pPr marL="342900" lvl="0" indent="-342900">
              <a:buFont typeface="Wingdings" panose="05000000000000000000" pitchFamily="2" charset="2"/>
              <a:buChar char="q"/>
            </a:pPr>
            <a:endParaRPr lang="en-IN" sz="2400" dirty="0"/>
          </a:p>
          <a:p>
            <a:pPr marL="342900" lvl="0" indent="-342900">
              <a:buFont typeface="Wingdings" panose="05000000000000000000" pitchFamily="2" charset="2"/>
              <a:buChar char="q"/>
            </a:pPr>
            <a:r>
              <a:rPr lang="en-IN" sz="2400" dirty="0"/>
              <a:t>Use real-time Threat Intelligence feeds to identify emerging cyber threats.</a:t>
            </a:r>
          </a:p>
          <a:p>
            <a:pPr marL="342900" lvl="0" indent="-342900">
              <a:buFont typeface="Wingdings" panose="05000000000000000000" pitchFamily="2" charset="2"/>
              <a:buChar char="q"/>
            </a:pPr>
            <a:endParaRPr lang="en-IN" sz="2400" dirty="0"/>
          </a:p>
          <a:p>
            <a:pPr marL="342900" lvl="0" indent="-342900">
              <a:buFont typeface="Wingdings" panose="05000000000000000000" pitchFamily="2" charset="2"/>
              <a:buChar char="q"/>
            </a:pPr>
            <a:r>
              <a:rPr lang="en-IN" sz="2400" dirty="0"/>
              <a:t>Integrate URL reputation checking to detect malicious links.</a:t>
            </a:r>
          </a:p>
          <a:p>
            <a:pPr marL="342900" lvl="0" indent="-342900">
              <a:buFont typeface="Wingdings" panose="05000000000000000000" pitchFamily="2" charset="2"/>
              <a:buChar char="q"/>
            </a:pPr>
            <a:endParaRPr lang="en-IN" sz="2400" dirty="0"/>
          </a:p>
          <a:p>
            <a:pPr marL="342900" lvl="0" indent="-342900">
              <a:buFont typeface="Wingdings" panose="05000000000000000000" pitchFamily="2" charset="2"/>
              <a:buChar char="q"/>
            </a:pPr>
            <a:r>
              <a:rPr lang="en-IN" sz="2400" dirty="0"/>
              <a:t>Develop a web-based application for easy email analysis.</a:t>
            </a:r>
          </a:p>
          <a:p>
            <a:pPr marL="342900" lvl="0" indent="-342900">
              <a:buFont typeface="Wingdings" panose="05000000000000000000" pitchFamily="2" charset="2"/>
              <a:buChar char="q"/>
            </a:pPr>
            <a:endParaRPr lang="en-IN" sz="2400" dirty="0"/>
          </a:p>
          <a:p>
            <a:pPr marL="342900" lvl="0" indent="-342900">
              <a:buFont typeface="Wingdings" panose="05000000000000000000" pitchFamily="2" charset="2"/>
              <a:buChar char="q"/>
            </a:pPr>
            <a:r>
              <a:rPr lang="en-IN" sz="2400" dirty="0"/>
              <a:t>Add real-time security alerts for suspicious emails.</a:t>
            </a:r>
          </a:p>
          <a:p>
            <a:pPr marL="342900" lvl="0" indent="-342900">
              <a:buFont typeface="Wingdings" panose="05000000000000000000" pitchFamily="2" charset="2"/>
              <a:buChar char="q"/>
            </a:pPr>
            <a:endParaRPr lang="en-IN" sz="2400" dirty="0"/>
          </a:p>
          <a:p>
            <a:pPr marL="342900" lvl="0" indent="-342900">
              <a:buFont typeface="Wingdings" panose="05000000000000000000" pitchFamily="2" charset="2"/>
              <a:buChar char="q"/>
            </a:pPr>
            <a:r>
              <a:rPr lang="en-IN" sz="2400" dirty="0"/>
              <a:t>Improve detection accuracy by training with larger datasets.</a:t>
            </a:r>
          </a:p>
          <a:p>
            <a:pPr lvl="0"/>
            <a:endParaRPr lang="en-IN" sz="2400" dirty="0"/>
          </a:p>
          <a:p>
            <a:br>
              <a:rPr lang="en-IN" sz="2400" dirty="0"/>
            </a:b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59264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F07DFB-264B-B6DE-D539-21059CC5B9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CAE08D6-FF7A-38BD-0A87-0ABD0A41322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26143" y="1929689"/>
            <a:ext cx="11519544" cy="3748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indent="-4572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IN" sz="2400" dirty="0"/>
              <a:t>Yadav, D. K., et al. (2025). </a:t>
            </a:r>
            <a:r>
              <a:rPr lang="en-IN" sz="2400" i="1" dirty="0"/>
              <a:t>Enhancing Email Security: A Real-Time Machine Learning-Based Spam Detection System.</a:t>
            </a:r>
            <a:r>
              <a:rPr lang="en-IN" sz="2400" dirty="0"/>
              <a:t> Internet Technology Letters. </a:t>
            </a:r>
          </a:p>
          <a:p>
            <a:pPr marL="457200" indent="-4572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IN" sz="2400" dirty="0"/>
              <a:t>Jamal, S., Wimmer, H., and Sarker, I. H. (2024). </a:t>
            </a:r>
            <a:r>
              <a:rPr lang="en-IN" sz="2400" i="1" dirty="0"/>
              <a:t>An Improved Transformer-Based Model for Detecting Phishing, Spam and Ham Emails.</a:t>
            </a:r>
            <a:r>
              <a:rPr lang="en-IN" sz="2400" dirty="0"/>
              <a:t> Security and Privacy. </a:t>
            </a:r>
            <a:r>
              <a:rPr lang="en-IN" sz="2400" dirty="0">
                <a:hlinkClick r:id="rId2"/>
              </a:rPr>
              <a:t>Read paper</a:t>
            </a:r>
            <a:endParaRPr lang="en-IN" sz="2400" dirty="0"/>
          </a:p>
          <a:p>
            <a:pPr marL="457200" indent="-4572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IN" sz="2400" i="1" dirty="0"/>
              <a:t>A Comprehensive Dual-Layer Architecture for Phishing and Spam Email Detection</a:t>
            </a:r>
            <a:r>
              <a:rPr lang="en-IN" sz="2400" dirty="0"/>
              <a:t> (2023). Computers &amp; Security. </a:t>
            </a:r>
            <a:r>
              <a:rPr lang="en-IN" sz="2400" dirty="0">
                <a:hlinkClick r:id="rId3"/>
              </a:rPr>
              <a:t>Read paper</a:t>
            </a:r>
            <a:endParaRPr lang="en-IN" sz="2400" dirty="0"/>
          </a:p>
          <a:p>
            <a:pPr marL="457200" indent="-4572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IN" sz="2400" i="1" dirty="0"/>
              <a:t>Comparative Analysis of Machine Learning Algorithms for Email Phishing Detection Using TF-IDF, Word2Vec, and BERT</a:t>
            </a:r>
            <a:r>
              <a:rPr lang="en-IN" sz="2400" dirty="0"/>
              <a:t> (2024). Computers, Materials &amp; Continua. </a:t>
            </a:r>
            <a:r>
              <a:rPr lang="en-IN" sz="2400" dirty="0">
                <a:hlinkClick r:id="rId4"/>
              </a:rPr>
              <a:t>Read paper</a:t>
            </a:r>
            <a:endParaRPr lang="en-IN" sz="2400" dirty="0"/>
          </a:p>
          <a:p>
            <a:pPr marL="457200" indent="-4572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IN" sz="2400" i="1" dirty="0"/>
              <a:t>A Systematic Literature Review on Phishing Email Detection Using Natural Language Processing Techniques</a:t>
            </a:r>
            <a:r>
              <a:rPr lang="en-IN" sz="2400" dirty="0"/>
              <a:t> (2022). IEEE Access, 10, 65703–65727. </a:t>
            </a:r>
            <a:r>
              <a:rPr lang="en-IN" sz="2400" dirty="0">
                <a:hlinkClick r:id="rId5"/>
              </a:rPr>
              <a:t>Read paper</a:t>
            </a: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Google Shape;125;p16">
            <a:extLst>
              <a:ext uri="{FF2B5EF4-FFF2-40B4-BE49-F238E27FC236}">
                <a16:creationId xmlns:a16="http://schemas.microsoft.com/office/drawing/2014/main" id="{E006375B-AAE6-2B80-02B4-B3A254634CF3}"/>
              </a:ext>
            </a:extLst>
          </p:cNvPr>
          <p:cNvPicPr preferRelativeResize="0"/>
          <p:nvPr/>
        </p:nvPicPr>
        <p:blipFill rotWithShape="1">
          <a:blip r:embed="rId6"/>
          <a:srcRect/>
          <a:stretch>
            <a:fillRect/>
          </a:stretch>
        </p:blipFill>
        <p:spPr>
          <a:xfrm>
            <a:off x="364847" y="24171"/>
            <a:ext cx="1320417" cy="1208548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126;p16">
            <a:extLst>
              <a:ext uri="{FF2B5EF4-FFF2-40B4-BE49-F238E27FC236}">
                <a16:creationId xmlns:a16="http://schemas.microsoft.com/office/drawing/2014/main" id="{3A32DB93-E134-15AE-D8FE-065DF26E77B4}"/>
              </a:ext>
            </a:extLst>
          </p:cNvPr>
          <p:cNvPicPr preferRelativeResize="0"/>
          <p:nvPr/>
        </p:nvPicPr>
        <p:blipFill rotWithShape="1">
          <a:blip r:embed="rId7"/>
          <a:srcRect/>
          <a:stretch>
            <a:fillRect/>
          </a:stretch>
        </p:blipFill>
        <p:spPr>
          <a:xfrm>
            <a:off x="10671886" y="124458"/>
            <a:ext cx="1520114" cy="134288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404219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C0C7D55-23F9-163E-BD1A-3C93D82624A0}"/>
              </a:ext>
            </a:extLst>
          </p:cNvPr>
          <p:cNvSpPr txBox="1"/>
          <p:nvPr/>
        </p:nvSpPr>
        <p:spPr>
          <a:xfrm>
            <a:off x="2797629" y="2590800"/>
            <a:ext cx="6444778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8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3787836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1866</TotalTime>
  <Words>839</Words>
  <Application>Microsoft Office PowerPoint</Application>
  <PresentationFormat>Widescreen</PresentationFormat>
  <Paragraphs>131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Calibri</vt:lpstr>
      <vt:lpstr>Calibri Light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REFERENCES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dhanalakshmiari28@gmail.com</dc:creator>
  <cp:lastModifiedBy>aswarthamanidheep2006@outlook.com</cp:lastModifiedBy>
  <cp:revision>13</cp:revision>
  <dcterms:created xsi:type="dcterms:W3CDTF">2026-09-02T14:16:19Z</dcterms:created>
  <dcterms:modified xsi:type="dcterms:W3CDTF">2026-10-26T04:40:47Z</dcterms:modified>
</cp:coreProperties>
</file>